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2" r:id="rId13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Microsoft YaHei"/>
              </a:rPr>
              <a:t>🏭 工厂老化测试工具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2E86AB"/>
                </a:solidFill>
                <a:latin typeface="Microsoft YaHei"/>
              </a:rPr>
              <a:t>项目介绍 · 需求与设计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▶ 目标平台  </a:t>
            </a:r>
            <a:r>
              <a:rPr sz="1800">
                <a:solidFill>
                  <a:srgbClr val="333333"/>
                </a:solidFill>
                <a:latin typeface="Microsoft YaHei"/>
              </a:rPr>
              <a:t>全志 A527 (ARM Cortex-A55 + Mali-G57)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▶ 运行模式  </a:t>
            </a:r>
            <a:r>
              <a:rPr sz="1800">
                <a:solidFill>
                  <a:srgbClr val="333333"/>
                </a:solidFill>
                <a:latin typeface="Microsoft YaHei"/>
              </a:rPr>
              <a:t>单机本地  ·  桌面图标一键启动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▶ 测试项数  </a:t>
            </a:r>
            <a:r>
              <a:rPr sz="1800">
                <a:solidFill>
                  <a:srgbClr val="333333"/>
                </a:solidFill>
                <a:latin typeface="Microsoft YaHei"/>
              </a:rPr>
              <a:t>10 项硬件测试  ·  全自动  ·  实时可见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▶ 使用者  </a:t>
            </a:r>
            <a:r>
              <a:rPr sz="1800">
                <a:solidFill>
                  <a:srgbClr val="333333"/>
                </a:solidFill>
                <a:latin typeface="Microsoft YaHei"/>
              </a:rPr>
              <a:t>产线工人(无需命令行)、产线工程师(查看 / 调参)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333333"/>
                </a:solidFill>
                <a:latin typeface="Microsoft YaHei"/>
              </a:rPr>
              <a:t>2026-10-19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Microsoft YaHei"/>
              </a:rPr>
              <a:t>01 ·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333333"/>
                </a:solidFill>
                <a:latin typeface="Microsoft YaHei"/>
              </a:rPr>
              <a:t>产线现状、痛点、改进目标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r>
              <a:rPr sz="2000" b="1">
                <a:solidFill>
                  <a:srgbClr val="C0392B"/>
                </a:solidFill>
                <a:latin typeface="Microsoft YaHei"/>
              </a:rPr>
              <a:t>📌 现状痛点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Microsoft YaHei"/>
              </a:rPr>
              <a:t>  • 全志 A527 量产设备下线前需做硬件体检 + 短期老化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Microsoft YaHei"/>
              </a:rPr>
              <a:t>  • 当前依赖工人手工 + ad-hoc 脚本,执行不规范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Microsoft YaHei"/>
              </a:rPr>
              <a:t>  • 结果散落各处,无法沉淀数据做质量分析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Microsoft YaHei"/>
              </a:rPr>
              <a:t>  • pass / fail 全凭经验,争议无据可查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554480"/>
            <a:ext cx="54864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r>
              <a:rPr sz="2000" b="1">
                <a:solidFill>
                  <a:srgbClr val="2E8B57"/>
                </a:solidFill>
                <a:latin typeface="Microsoft YaHei"/>
              </a:rPr>
              <a:t>✅ 改进目标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Microsoft YaHei"/>
              </a:rPr>
              <a:t>  • 测试 + 记录 + 报告做成单机闭环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Microsoft YaHei"/>
              </a:rPr>
              <a:t>  • 工人无需懂命令,桌面图标 + 勾选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Microsoft YaHei"/>
              </a:rPr>
              <a:t>  • 统一调度,执行一致性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Microsoft YaHei"/>
              </a:rPr>
              <a:t>  • SQLite 全量存,历史可查、可申诉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Microsoft YaHei"/>
              </a:rPr>
              <a:t>02 · 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333333"/>
                </a:solidFill>
                <a:latin typeface="Microsoft YaHei"/>
              </a:rPr>
              <a:t>从「上架一台新机」到「拿到报告」只需 4 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743200" cy="18288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1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桌面图标一键启动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Microsoft YaHei"/>
              </a:rPr>
              <a:t>无需命令,双击开浏览器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2424" y="1645920"/>
            <a:ext cx="2743200" cy="18288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2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勾选 + 点开始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Microsoft YaHei"/>
              </a:rPr>
              <a:t>UI 极简,默认全选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645920"/>
            <a:ext cx="2743200" cy="18288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3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实时看到每项进度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Microsoft YaHei"/>
              </a:rPr>
              <a:t>过程可见,等待不焦虑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62872" y="1645920"/>
            <a:ext cx="2743200" cy="18288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4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明确 pass / fail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Microsoft YaHei"/>
              </a:rPr>
              <a:t>可查询、可申诉、可追溯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YaHei"/>
              </a:rPr>
              <a:t>📊 关键数字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219456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F3A5F"/>
                </a:solidFill>
                <a:latin typeface="Microsoft YaHei"/>
              </a:rPr>
              <a:t>≤ 30s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Microsoft YaHei"/>
              </a:rPr>
              <a:t>工人操作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4206240"/>
            <a:ext cx="219456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F3A5F"/>
                </a:solidFill>
                <a:latin typeface="Microsoft YaHei"/>
              </a:rPr>
              <a:t>10 项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Microsoft YaHei"/>
              </a:rPr>
              <a:t>硬件测试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4206240"/>
            <a:ext cx="219456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F3A5F"/>
                </a:solidFill>
                <a:latin typeface="Microsoft YaHei"/>
              </a:rPr>
              <a:t>≈ 10 分钟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Microsoft YaHei"/>
              </a:rPr>
              <a:t>测试时长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0064" y="4206240"/>
            <a:ext cx="219456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F3A5F"/>
                </a:solidFill>
                <a:latin typeface="Microsoft YaHei"/>
              </a:rPr>
              <a:t>≤ 5 分钟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Microsoft YaHei"/>
              </a:rPr>
              <a:t>工人上手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4206240"/>
            <a:ext cx="219456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F3A5F"/>
                </a:solidFill>
                <a:latin typeface="Microsoft YaHei"/>
              </a:rPr>
              <a:t>&lt; 2s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Microsoft YaHei"/>
              </a:rPr>
              <a:t>UI 推送间隔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03 · 使用流程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1F3A5F"/>
                </a:solidFill>
              </a:rPr>
              <a:t>从桌面图标到出报告完整路径,含中途取消 / 单项重测分支(详细判定见 docs/需求设计.md §9.1)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7040880" cy="530352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        开始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         ↓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┌────────────────────────┐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│ ① 开测试工具             │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│ ② 勾选要测的项 + 调默认参数 │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│ ③ 点「开始」→ 建运行记录  │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└────────────────────────┘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         ↓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┌── 主循环 (每跑一项重复) ─────────────────────────┐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─→   │ ④ 取下一项 → ⑤ 执行 → ⑥ 判定(4 态之一) → ⑦ 写结果 │ ──┐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└──────────────────────────────────────────────┘    │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↑                                                        │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└──────────────── 回到 ④ ──────────────────────────────┘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         ↓ 全部跑完 / 中途停止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(中途 → 当前项 + 剩余未跑项 = stopped)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         ↓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┌────────────────────────┐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│ ⑧ 汇总 → ⑨ 写总报告 → ⑩ UI 显示 │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└────────────────────────┘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         ↓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        任一 failed / error ?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├─ 否 → 整机通过,可下架 → 结束 ✓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      └─ 是 → 整机不通过,留厂排查 → 结束 ✗</a:t>
            </a:r>
          </a:p>
          <a:p>
            <a:pPr algn="l"/>
            <a:r>
              <a:rPr sz="1100">
                <a:latin typeface="Courier New"/>
              </a:rPr>
              <a:t> 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旁路分支: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• 单项重跑 (报告出来后):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对单条 failed / error 项点「重跑这一次」→ 替换 → 回到 ⑧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• 中途取消 (任一时点):</a:t>
            </a:r>
          </a:p>
          <a:p>
            <a:pPr algn="l"/>
            <a:r>
              <a:rPr sz="1200">
                <a:solidFill>
                  <a:srgbClr val="333333"/>
                </a:solidFill>
                <a:latin typeface="Courier New"/>
              </a:rPr>
              <a:t>      工人点「停止」→ 当前项 + 剩余 = stopped (区别于 skipped)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417320"/>
            <a:ext cx="4297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1F3A5F"/>
                </a:solidFill>
              </a:rPr>
              <a:t>判定 4 态 (per §9.1)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0" y="1810512"/>
          <a:ext cx="4297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45920"/>
                <a:gridCol w="1645920"/>
              </a:tblGrid>
              <a:tr h="396240">
                <a:tc>
                  <a:txBody>
                    <a:bodyPr lIns="36000" rIns="36000" tIns="18000" bIns="18000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</a:rPr>
                        <a:t>状态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</a:rPr>
                        <a:t>触发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 b="1">
                          <a:solidFill>
                            <a:srgbClr val="333333"/>
                          </a:solidFill>
                        </a:rPr>
                        <a:t>行为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passed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满足通过条件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写指标,继续下一项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failed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断言不达标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不阻断,继续下一项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工具缺失 / 代码异常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不阻断,继续下一项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skipped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用户主动跳过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不计入通过率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stopped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用户中途点「停止」</a:t>
                      </a:r>
                    </a:p>
                  </a:txBody>
                  <a:tcPr/>
                </a:tc>
                <a:tc>
                  <a:txBody>
                    <a:bodyPr lIns="36000" rIns="36000" tIns="18000" bIns="18000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不当作 failed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4343400"/>
            <a:ext cx="4297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1F3A5F"/>
                </a:solidFill>
              </a:rPr>
              <a:t>配套硬规则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736592"/>
            <a:ext cx="4297680" cy="20116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• 5 秒静默期:每项测完后留 5s,让 CPU / 温度 / 调度器复位</a:t>
            </a:r>
          </a:p>
          <a:p>
            <a:r>
              <a:rPr sz="1200">
                <a:solidFill>
                  <a:srgbClr val="333333"/>
                </a:solidFill>
              </a:rPr>
              <a:t>• 推荐 4 阶段顺序 (轻量 → 接口 → 射频 → 重载):</a:t>
            </a:r>
          </a:p>
          <a:p>
            <a:r>
              <a:rPr sz="1200">
                <a:solidFill>
                  <a:srgbClr val="333333"/>
                </a:solidFill>
              </a:rPr>
              <a:t>   — ① 轻量:内存 / eMMC / TF</a:t>
            </a:r>
          </a:p>
          <a:p>
            <a:r>
              <a:rPr sz="1200">
                <a:solidFill>
                  <a:srgbClr val="333333"/>
                </a:solidFill>
              </a:rPr>
              <a:t>   — ② 接口:HDMI / USB / 网口 / 风扇</a:t>
            </a:r>
          </a:p>
          <a:p>
            <a:r>
              <a:rPr sz="1200">
                <a:solidFill>
                  <a:srgbClr val="333333"/>
                </a:solidFill>
              </a:rPr>
              <a:t>   — ③ 射频:WiFi 验证</a:t>
            </a:r>
          </a:p>
          <a:p>
            <a:r>
              <a:rPr sz="1200">
                <a:solidFill>
                  <a:srgbClr val="333333"/>
                </a:solidFill>
              </a:rPr>
              <a:t>   — ④ 重载:GPU (glmark2-es2) / CPU (stress-ng)</a:t>
            </a:r>
          </a:p>
          <a:p>
            <a:r>
              <a:rPr sz="1200">
                <a:solidFill>
                  <a:srgbClr val="333333"/>
                </a:solidFill>
              </a:rPr>
              <a:t>• 工人可在 UI 上拖动调整执行顺序</a:t>
            </a:r>
          </a:p>
          <a:p>
            <a:r>
              <a:rPr sz="1200">
                <a:solidFill>
                  <a:srgbClr val="333333"/>
                </a:solidFill>
              </a:rPr>
              <a:t>• 单项重测:报告出后工人对单条 failed 项点"重跑这一次"</a:t>
            </a:r>
          </a:p>
          <a:p>
            <a:r>
              <a:rPr sz="1200">
                <a:solidFill>
                  <a:srgbClr val="333333"/>
                </a:solidFill>
              </a:rPr>
              <a:t>• `stopped` 不算 failed — 报告里高亮提示排查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Microsoft YaHei"/>
              </a:rPr>
              <a:t>04 · 测试通过 / 失败的依据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333333"/>
                </a:solidFill>
                <a:latin typeface="Microsoft YaHei"/>
              </a:rPr>
              <a:t>量化阈值 + 过程证据 + 汇总公式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5F"/>
                </a:solidFill>
                <a:latin typeface="Microsoft YaHei"/>
              </a:rPr>
              <a:t>② 默认阈值参考(config.yaml 可调)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965960"/>
          <a:ext cx="5943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测试项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默认阈值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CPU 最高温度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≤ 85°C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GPU 渲染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glmark2-es2 一轮完整跑完 + exit 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WiFi 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4 步全过(ip/rfkill/iw scan 响应 + 扫到 ≥ 1 SSID)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USB 顺序写 / 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各跑 30s, 写 ≥ 20, 读 ≥ 20 MB/s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网口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3 步全过(ethtool link yes + udhcpc 拿到 IP + ping c/c 全通 0% loss)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风扇 GPIO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2 轮轮转均通过(写 1 读到 1, 写 0 读到 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TF 卡顺序读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≥ 10 MB/s(未插可选「跳」→ skipped)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内存(memtester)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1 pass, 无 error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eMMC 顺序读 / 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64K+256M 各 15s(总 ≈30s),读 ≥ 80,写 ≥ 30 MB/s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HDMI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EDID 可读 + 模式可设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675120" y="1965960"/>
            <a:ext cx="5029200" cy="4526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r>
              <a:rPr sz="1600" b="1">
                <a:solidFill>
                  <a:srgbClr val="2E8B57"/>
                </a:solidFill>
                <a:latin typeface="Microsoft YaHei"/>
              </a:rPr>
              <a:t>✓ 过程证据 (per §10.3)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1. 工具正常退出 + 阈值满足(见 §6 各小节通过判据)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2. 含 ≥ 1 个核心指标入库(如温度 / 吞吐 / RSSI)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3. 含 ≥ 1 条过程日志(进度 / 关键状态)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❌ 不允许「工具退出码 0 就当 pass,中间啥也不记录」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📈 run 级汇总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33333"/>
                </a:solidFill>
                <a:latin typeface="Microsoft YaHei"/>
              </a:rPr>
              <a:t>项级 / passed = 满足 §6 通过清单  ·  run 级 / passed / total  ·  任一 failed/error → run 不通过 (§9.1 / §9.2)</a:t>
            </a:r>
          </a:p>
          <a:p>
            <a:r>
              <a:rPr sz="1300">
                <a:solidFill>
                  <a:srgbClr val="333333"/>
                </a:solidFill>
              </a:rPr>
              <a:t/>
            </a:r>
            <a:r>
              <a:rPr sz="1300">
                <a:solidFill>
                  <a:srgbClr val="333333"/>
                </a:solidFill>
              </a:rPr>
              <a:t>4. `failed` 必须有 `error` 字段 + 错误上下文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Microsoft YaHei"/>
              </a:rPr>
              <a:t>05 · 可观测性原则(产品级 hard 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333333"/>
                </a:solidFill>
                <a:latin typeface="Microsoft YaHei"/>
              </a:rPr>
              <a:t>点开始后必须立刻看到动作反馈,不允许「黑屏等结果」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57600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⏱ 推送频率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657600" cy="3383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365760" wrap="square"/>
          <a:lstStyle/>
          <a:p>
            <a:pPr algn="ctr"/>
            <a:r>
              <a:rPr sz="2400" b="1">
                <a:solidFill>
                  <a:srgbClr val="2E86AB"/>
                </a:solidFill>
                <a:latin typeface="Microsoft YaHei"/>
              </a:rPr>
              <a:t>≤ 2 秒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单项期间每 ≤2s 至少 1 帧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progress 或 log 事件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静默阶段也要推心跳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避免用户怀疑工具死锁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1104" y="1645920"/>
            <a:ext cx="3657600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🖥 前端呈现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1104" y="2377440"/>
            <a:ext cx="3657600" cy="3383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365760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Microsoft YaHei"/>
              </a:rPr>
              <a:t>每项独立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状态色 / 进度条 / 指标 / 日志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全局滚动日志区 (500 行)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重连后补 snapshot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进度条带百分比 + 阶段描述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5008" y="1645920"/>
            <a:ext cx="3657600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📝 过程证据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2377440"/>
            <a:ext cx="3657600" cy="3383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365760" wrap="square"/>
          <a:lstStyle/>
          <a:p>
            <a:pPr algn="ctr"/>
            <a:r>
              <a:rPr sz="2400" b="1">
                <a:solidFill>
                  <a:srgbClr val="2E8B57"/>
                </a:solidFill>
                <a:latin typeface="Microsoft YaHei"/>
              </a:rPr>
              <a:t>必须留痕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≥ 1 个核心指标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≥ 1 条过程日志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failed 必须有 error 字段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333333"/>
                </a:solidFill>
                <a:latin typeface="Microsoft YaHei"/>
              </a:rPr>
              <a:t>  • 历史可重看全过程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3A5F"/>
                </a:solidFill>
                <a:latin typeface="Microsoft YaHei"/>
              </a:rPr>
              <a:t>📡 事件类型: progress | log | metric | run_started/finished | test_started/finished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Microsoft YaHei"/>
              </a:rPr>
              <a:t>06 · 用到的技术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333333"/>
                </a:solidFill>
                <a:latin typeface="Microsoft YaHei"/>
              </a:rPr>
              <a:t>应用层技术 + Linux 系统工具(全部离线预打包 per §11.7)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YaHei"/>
              </a:rPr>
              <a:t>▎ 应用层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822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r>
              <a:rPr sz="1400" b="1">
                <a:solidFill>
                  <a:srgbClr val="2E86AB"/>
                </a:solidFill>
                <a:latin typeface="Microsoft YaHei"/>
              </a:rPr>
              <a:t>后端</a:t>
            </a:r>
            <a:r>
              <a:rPr sz="1400" b="1">
                <a:solidFill>
                  <a:srgbClr val="1F3A5F"/>
                </a:solidFill>
                <a:latin typeface="Microsoft YaHei"/>
              </a:rPr>
              <a:t>  ·  Python 3.11 + FastAPI</a:t>
            </a:r>
          </a:p>
          <a:p>
            <a:r>
              <a:rPr sz="1200" i="1">
                <a:solidFill>
                  <a:srgbClr val="333333"/>
                </a:solidFill>
                <a:latin typeface="Microsoft YaHei"/>
              </a:rPr>
              <a:t>    异步 HTTP + WebSocket 一体化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5486400" cy="822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r>
              <a:rPr sz="1400" b="1">
                <a:solidFill>
                  <a:srgbClr val="2E86AB"/>
                </a:solidFill>
                <a:latin typeface="Microsoft YaHei"/>
              </a:rPr>
              <a:t>前端</a:t>
            </a:r>
            <a:r>
              <a:rPr sz="1400" b="1">
                <a:solidFill>
                  <a:srgbClr val="1F3A5F"/>
                </a:solidFill>
                <a:latin typeface="Microsoft YaHei"/>
              </a:rPr>
              <a:t>  ·  Vue 3 (CDN,单文件 JS)</a:t>
            </a:r>
          </a:p>
          <a:p>
            <a:r>
              <a:rPr sz="1200" i="1">
                <a:solidFill>
                  <a:srgbClr val="333333"/>
                </a:solidFill>
                <a:latin typeface="Microsoft YaHei"/>
              </a:rPr>
              <a:t>    无构建,改立即见效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5486400" cy="822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r>
              <a:rPr sz="1400" b="1">
                <a:solidFill>
                  <a:srgbClr val="2E86AB"/>
                </a:solidFill>
                <a:latin typeface="Microsoft YaHei"/>
              </a:rPr>
              <a:t>数据库</a:t>
            </a:r>
            <a:r>
              <a:rPr sz="1400" b="1">
                <a:solidFill>
                  <a:srgbClr val="1F3A5F"/>
                </a:solidFill>
                <a:latin typeface="Microsoft YaHei"/>
              </a:rPr>
              <a:t>  ·  SQLite</a:t>
            </a:r>
          </a:p>
          <a:p>
            <a:r>
              <a:rPr sz="1200" i="1">
                <a:solidFill>
                  <a:srgbClr val="333333"/>
                </a:solidFill>
                <a:latin typeface="Microsoft YaHei"/>
              </a:rPr>
              <a:t>    单机零运维,自包含文件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5486400" cy="822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r>
              <a:rPr sz="1400" b="1">
                <a:solidFill>
                  <a:srgbClr val="2E86AB"/>
                </a:solidFill>
                <a:latin typeface="Microsoft YaHei"/>
              </a:rPr>
              <a:t>实时</a:t>
            </a:r>
            <a:r>
              <a:rPr sz="1400" b="1">
                <a:solidFill>
                  <a:srgbClr val="1F3A5F"/>
                </a:solidFill>
                <a:latin typeface="Microsoft YaHei"/>
              </a:rPr>
              <a:t>  ·  WebSocket /ws</a:t>
            </a:r>
          </a:p>
          <a:p>
            <a:r>
              <a:rPr sz="1200" i="1">
                <a:solidFill>
                  <a:srgbClr val="333333"/>
                </a:solidFill>
                <a:latin typeface="Microsoft YaHei"/>
              </a:rPr>
              <a:t>    双向通信,事件流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YaHei"/>
              </a:rPr>
              <a:t>▎ Linux 系统工具(apt 装,无重写)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011680"/>
          <a:ext cx="53035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工具 (apt 装)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stress-ng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CPU 压力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glmark2-es2-wayland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GPU 渲染(全屏跑完一轮 + exit 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memtester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内存完整性(1 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fio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eMMC / TF / USB 块设备读写(各 15-30s)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ethtool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网口链路检测 (Link detected yes/no)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iputils-ping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网口外网 ping 通测 (c=6 全通 0% loss)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libdrm-tools (modetest)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HDMI 模式验证 (sysfs 优先)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iw / rfkill / iproute2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WiFi 三件套(开关/射频/扫描)直测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/proc/rp_gpio/pi5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风扇 GPIO echo 拉高/拉低(内核自带)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libgpiod-tools + python3-libgpiod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YaHei"/>
                        </a:rPr>
                        <a:t>风扇备路径 (gpioget/sysfs 兜底)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udhcpc (busybox)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网口 DHCP 取 IP (lease obtained)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